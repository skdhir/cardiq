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rancsi, Annamaria" userId="2d740075-f919-42b5-bbfb-c0b190283684" providerId="ADAL" clId="{7752042E-6C64-52F2-AFAA-5EA346D8CD51}"/>
    <pc:docChg chg="custSel modSld">
      <pc:chgData name="Garancsi, Annamaria" userId="2d740075-f919-42b5-bbfb-c0b190283684" providerId="ADAL" clId="{7752042E-6C64-52F2-AFAA-5EA346D8CD51}" dt="2026-03-10T01:46:08.631" v="11" actId="20577"/>
      <pc:docMkLst>
        <pc:docMk/>
      </pc:docMkLst>
      <pc:sldChg chg="modSp mod">
        <pc:chgData name="Garancsi, Annamaria" userId="2d740075-f919-42b5-bbfb-c0b190283684" providerId="ADAL" clId="{7752042E-6C64-52F2-AFAA-5EA346D8CD51}" dt="2026-03-10T01:46:07.359" v="3" actId="20577"/>
        <pc:sldMkLst>
          <pc:docMk/>
          <pc:sldMk cId="0" sldId="256"/>
        </pc:sldMkLst>
        <pc:spChg chg="mod">
          <ac:chgData name="Garancsi, Annamaria" userId="2d740075-f919-42b5-bbfb-c0b190283684" providerId="ADAL" clId="{7752042E-6C64-52F2-AFAA-5EA346D8CD51}" dt="2026-03-10T01:46:07.351" v="0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Garancsi, Annamaria" userId="2d740075-f919-42b5-bbfb-c0b190283684" providerId="ADAL" clId="{7752042E-6C64-52F2-AFAA-5EA346D8CD51}" dt="2026-03-10T01:46:07.357" v="1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Garancsi, Annamaria" userId="2d740075-f919-42b5-bbfb-c0b190283684" providerId="ADAL" clId="{7752042E-6C64-52F2-AFAA-5EA346D8CD51}" dt="2026-03-10T01:46:07.358" v="2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Garancsi, Annamaria" userId="2d740075-f919-42b5-bbfb-c0b190283684" providerId="ADAL" clId="{7752042E-6C64-52F2-AFAA-5EA346D8CD51}" dt="2026-03-10T01:46:07.359" v="3" actId="20577"/>
          <ac:spMkLst>
            <pc:docMk/>
            <pc:sldMk cId="0" sldId="256"/>
            <ac:spMk id="7" creationId="{00000000-0000-0000-0000-000000000000}"/>
          </ac:spMkLst>
        </pc:spChg>
      </pc:sldChg>
      <pc:sldChg chg="modSp mod">
        <pc:chgData name="Garancsi, Annamaria" userId="2d740075-f919-42b5-bbfb-c0b190283684" providerId="ADAL" clId="{7752042E-6C64-52F2-AFAA-5EA346D8CD51}" dt="2026-03-10T01:46:08.631" v="11" actId="20577"/>
        <pc:sldMkLst>
          <pc:docMk/>
          <pc:sldMk cId="0" sldId="257"/>
        </pc:sldMkLst>
        <pc:spChg chg="mod">
          <ac:chgData name="Garancsi, Annamaria" userId="2d740075-f919-42b5-bbfb-c0b190283684" providerId="ADAL" clId="{7752042E-6C64-52F2-AFAA-5EA346D8CD51}" dt="2026-03-10T01:46:08.622" v="4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Garancsi, Annamaria" userId="2d740075-f919-42b5-bbfb-c0b190283684" providerId="ADAL" clId="{7752042E-6C64-52F2-AFAA-5EA346D8CD51}" dt="2026-03-10T01:46:08.624" v="5" actId="20577"/>
          <ac:spMkLst>
            <pc:docMk/>
            <pc:sldMk cId="0" sldId="257"/>
            <ac:spMk id="6" creationId="{00000000-0000-0000-0000-000000000000}"/>
          </ac:spMkLst>
        </pc:spChg>
        <pc:spChg chg="mod">
          <ac:chgData name="Garancsi, Annamaria" userId="2d740075-f919-42b5-bbfb-c0b190283684" providerId="ADAL" clId="{7752042E-6C64-52F2-AFAA-5EA346D8CD51}" dt="2026-03-10T01:46:08.625" v="6" actId="20577"/>
          <ac:spMkLst>
            <pc:docMk/>
            <pc:sldMk cId="0" sldId="257"/>
            <ac:spMk id="7" creationId="{00000000-0000-0000-0000-000000000000}"/>
          </ac:spMkLst>
        </pc:spChg>
        <pc:spChg chg="mod">
          <ac:chgData name="Garancsi, Annamaria" userId="2d740075-f919-42b5-bbfb-c0b190283684" providerId="ADAL" clId="{7752042E-6C64-52F2-AFAA-5EA346D8CD51}" dt="2026-03-10T01:46:08.626" v="7" actId="20577"/>
          <ac:spMkLst>
            <pc:docMk/>
            <pc:sldMk cId="0" sldId="257"/>
            <ac:spMk id="11" creationId="{00000000-0000-0000-0000-000000000000}"/>
          </ac:spMkLst>
        </pc:spChg>
        <pc:spChg chg="mod">
          <ac:chgData name="Garancsi, Annamaria" userId="2d740075-f919-42b5-bbfb-c0b190283684" providerId="ADAL" clId="{7752042E-6C64-52F2-AFAA-5EA346D8CD51}" dt="2026-03-10T01:46:08.627" v="8" actId="20577"/>
          <ac:spMkLst>
            <pc:docMk/>
            <pc:sldMk cId="0" sldId="257"/>
            <ac:spMk id="12" creationId="{00000000-0000-0000-0000-000000000000}"/>
          </ac:spMkLst>
        </pc:spChg>
        <pc:spChg chg="mod">
          <ac:chgData name="Garancsi, Annamaria" userId="2d740075-f919-42b5-bbfb-c0b190283684" providerId="ADAL" clId="{7752042E-6C64-52F2-AFAA-5EA346D8CD51}" dt="2026-03-10T01:46:08.629" v="9" actId="20577"/>
          <ac:spMkLst>
            <pc:docMk/>
            <pc:sldMk cId="0" sldId="257"/>
            <ac:spMk id="16" creationId="{00000000-0000-0000-0000-000000000000}"/>
          </ac:spMkLst>
        </pc:spChg>
        <pc:spChg chg="mod">
          <ac:chgData name="Garancsi, Annamaria" userId="2d740075-f919-42b5-bbfb-c0b190283684" providerId="ADAL" clId="{7752042E-6C64-52F2-AFAA-5EA346D8CD51}" dt="2026-03-10T01:46:08.630" v="10" actId="20577"/>
          <ac:spMkLst>
            <pc:docMk/>
            <pc:sldMk cId="0" sldId="257"/>
            <ac:spMk id="17" creationId="{00000000-0000-0000-0000-000000000000}"/>
          </ac:spMkLst>
        </pc:spChg>
        <pc:spChg chg="mod">
          <ac:chgData name="Garancsi, Annamaria" userId="2d740075-f919-42b5-bbfb-c0b190283684" providerId="ADAL" clId="{7752042E-6C64-52F2-AFAA-5EA346D8CD51}" dt="2026-03-10T01:46:08.631" v="11" actId="20577"/>
          <ac:spMkLst>
            <pc:docMk/>
            <pc:sldMk cId="0" sldId="257"/>
            <ac:spMk id="21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1143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-1097280"/>
            <a:ext cx="4572000" cy="4572000"/>
          </a:xfrm>
          <a:prstGeom prst="ellipse">
            <a:avLst/>
          </a:prstGeom>
          <a:solidFill>
            <a:srgbClr val="1A3560">
              <a:alpha val="60000"/>
            </a:srgbClr>
          </a:solidFill>
          <a:ln w="12700">
            <a:solidFill>
              <a:srgbClr val="1A35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583680" y="2286000"/>
            <a:ext cx="3200400" cy="3200400"/>
          </a:xfrm>
          <a:prstGeom prst="ellipse">
            <a:avLst/>
          </a:prstGeom>
          <a:solidFill>
            <a:srgbClr val="00C9A7">
              <a:alpha val="15000"/>
            </a:srgbClr>
          </a:solidFill>
          <a:ln w="12700">
            <a:solidFill>
              <a:srgbClr val="00C9A7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400" b="1" kern="0" spc="400" dirty="0">
                <a:solidFill>
                  <a:srgbClr val="FFFFFF"/>
                </a:solidFill>
              </a:rPr>
              <a:t>CardIQ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C9A7"/>
                </a:solidFill>
              </a:rPr>
              <a:t/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4114800" cy="36576"/>
          </a:xfrm>
          <a:prstGeom prst="rect">
            <a:avLst/>
          </a:prstGeom>
          <a:solidFill>
            <a:srgbClr val="00C9A7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00" dirty="0">
                <a:solidFill>
                  <a:srgbClr val="B0C8E8"/>
                </a:solidFill>
              </a:rPr>
              <a:t>AI-Powered Credit Card Benefits Maximization</a:t>
            </a:r>
            <a:endParaRPr lang="en-US" sz="16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600" dirty="0">
                <a:solidFill>
                  <a:srgbClr val="B0C8E8"/>
                </a:solidFill>
              </a:rPr>
              <a:t>Track benefits. Optimize purchases. Maximize ROI.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</a:rPr>
              <a:t>eMBA · AI for Financial Services · Course Project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10-min Presentation + 5-min Q&amp;A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</a:rPr>
              <a:t>CardIQ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CCDDEE"/>
                </a:solidFill>
              </a:rPr>
              <a:t>The Problem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2044"/>
                </a:solidFill>
              </a:rPr>
              <a:t>Americans Leave Hundreds on the Table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554480"/>
            <a:ext cx="265176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554480"/>
            <a:ext cx="265176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69164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22402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2044"/>
                </a:solidFill>
              </a:rPr>
              <a:t>$300–$600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320040" y="28346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Unused statement credits &amp; perks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per household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154680" y="1554480"/>
            <a:ext cx="265176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154680" y="1554480"/>
            <a:ext cx="265176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69164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154680" y="22402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2044"/>
                </a:solidFill>
              </a:rPr>
              <a:t>$2,000+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3154680" y="28346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Potential annual value in a single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premium card (e.g., Amex Platinum)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989320" y="1554480"/>
            <a:ext cx="265176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5989320" y="1554480"/>
            <a:ext cx="265176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169164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989320" y="22402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2044"/>
                </a:solidFill>
              </a:rPr>
              <a:t>0</a:t>
            </a:r>
            <a:endParaRPr lang="en-US" sz="2600" dirty="0"/>
          </a:p>
        </p:txBody>
      </p:sp>
      <p:sp>
        <p:nvSpPr>
          <p:cNvPr id="20" name="Text 15"/>
          <p:cNvSpPr/>
          <p:nvPr/>
        </p:nvSpPr>
        <p:spPr>
          <a:xfrm>
            <a:off x="5989320" y="28346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Platforms offering unified cross-issuer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benefits tracking today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320040" y="3703320"/>
            <a:ext cx="850392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502920" y="3749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Root cause: Comparison sites (NerdWallet, Credit Karma) help consumers choose cards but offer zero post-acquisition value. Issuer apps track only their own cards. No tool reasons holistically across your entire wallet.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</a:rPr>
              <a:t>CardIQ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CCDDEE"/>
                </a:solidFill>
              </a:rPr>
              <a:t>The Solution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44"/>
                </a:solidFill>
              </a:rPr>
              <a:t>LLM-Native Cross-Issuer Benefits Intelligence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554480"/>
            <a:ext cx="4754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554480"/>
            <a:ext cx="64008" cy="8686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</a:rPr>
              <a:t>Benefits Dashboard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84708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Real-time tracking of every statement credit, perk, and protection across all cards. Dollar values, progress bars, capture rates, expiration alerts.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560320"/>
            <a:ext cx="4754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2560320"/>
            <a:ext cx="64008" cy="8686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606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</a:rPr>
              <a:t>Purchase Optimizer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85292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AI-powered recommendation for which card to use at every merchant, based on verified rewards rates. Shows the dollar impact of suboptimal card usage.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566160"/>
            <a:ext cx="4754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3566160"/>
            <a:ext cx="64008" cy="8686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3611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</a:rPr>
              <a:t>Portfolio Strategist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385876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Annual fee ROI analysis per card — benefits captured vs. fee paid. Keep/downgrade/evaluate recommendation with plain-language rationale.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49240" y="1508760"/>
            <a:ext cx="3474720" cy="30175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49240" y="157276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</a:rPr>
              <a:t>vs. The Competition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0680" y="2011680"/>
          <a:ext cx="3291840" cy="24231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0C9A7"/>
                          </a:solidFill>
                        </a:rPr>
                        <a:t>Rules-Based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0C9A7"/>
                          </a:solidFill>
                        </a:rPr>
                        <a:t>CardIQ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Holistic AI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C8181"/>
                          </a:solidFill>
                        </a:rPr>
                        <a:t>✗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DE80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Real-time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C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Partial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C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DE80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C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Ad-free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C8181"/>
                          </a:solidFill>
                        </a:rPr>
                        <a:t>✗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DE80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Explainable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C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C8181"/>
                          </a:solidFill>
                        </a:rPr>
                        <a:t>✗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C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DE80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C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Score + Rewards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Separate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Unified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320040" y="46634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00A388"/>
                </a:solidFill>
              </a:rPr>
              <a:t>One platform. Three capabilities. Unified LLM reasoning. No affiliate bias.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</a:rPr>
              <a:t>CardIQ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CCDDEE"/>
                </a:solidFill>
              </a:rPr>
              <a:t>System Demo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44"/>
                </a:solidFill>
              </a:rPr>
              <a:t>Working Prototype — Workflow Architecture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192024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1572768"/>
            <a:ext cx="640080" cy="64008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5727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044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74320" y="2286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044"/>
                </a:solidFill>
              </a:rPr>
              <a:t>Onboarding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2679192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Plaid OAuth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90-day transaction history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Card identification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12848" y="2587752"/>
            <a:ext cx="219456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304288" y="2487168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9A7"/>
                </a:solidFill>
              </a:rPr>
              <a:t>▶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1508760"/>
            <a:ext cx="192024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090672" y="1572768"/>
            <a:ext cx="640080" cy="64008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090672" y="15727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044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450592" y="2286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044"/>
                </a:solidFill>
              </a:rPr>
              <a:t>Analysis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450592" y="2679192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Benefits mapping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Rewards rate lookup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Capture rate calc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89120" y="2587752"/>
            <a:ext cx="219456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480560" y="2487168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9A7"/>
                </a:solidFill>
              </a:rPr>
              <a:t>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26864" y="1508760"/>
            <a:ext cx="192024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266944" y="1572768"/>
            <a:ext cx="640080" cy="64008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266944" y="15727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044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626864" y="2286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044"/>
                </a:solidFill>
              </a:rPr>
              <a:t>LLM Reasoning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26864" y="2679192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Claude API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3-tier instruction hierarchy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Confidence scoring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65392" y="2587752"/>
            <a:ext cx="219456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656832" y="2487168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9A7"/>
                </a:solidFill>
              </a:rPr>
              <a:t>▶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03136" y="1508760"/>
            <a:ext cx="192024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443216" y="1572768"/>
            <a:ext cx="640080" cy="64008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443216" y="15727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044"/>
                </a:solidFill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803136" y="2286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044"/>
                </a:solidFill>
              </a:rPr>
              <a:t>Action Cards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03136" y="2679192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Plain-language rec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Impact estimate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Disclaimer footer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" y="3931920"/>
            <a:ext cx="8595360" cy="685800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397764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Tech Stack:  Next.js (App Router)  ·  TypeScript  ·  File-based JSON Store  ·  Claude API (claude-sonnet-4-6)  ·  Plaid  ·  AWS Amplify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0040" y="4681728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A388"/>
                </a:solidFill>
              </a:rPr>
              <a:t>Live at: cardiq.fast-app.org · First recommendation in &lt;5 minutes from onboarding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</a:rPr>
              <a:t>CardIQ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CCDDEE"/>
                </a:solidFill>
              </a:rPr>
              <a:t>Guardrails &amp; Safety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44"/>
                </a:solidFill>
              </a:rPr>
              <a:t>Defending the Guardrails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6459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33272" y="161848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</a:rPr>
              <a:t>Factual Accuracy ≥99%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33272" y="196596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Every card term cited in a recommendation is validated against a curated, verified card terms database (20 cards, updated weekly). Model cannot cite terms not in the DB.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63440" y="150876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6459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76672" y="161848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</a:rPr>
              <a:t>3-Tier Instruction Hierarchy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376672" y="196596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System Instruction (immutable guardrails) → Developer Context (per-session card data) → User Message (constrained by both). No single mega-prompt — a controlled system.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20040" y="306324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320040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33272" y="317296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</a:rPr>
              <a:t>Hallucination Audits — Monthly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033272" y="352044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50 random recommendations verified against ground-truth card terms. Any critical factual error triggers immediate investigation and prompt remediation.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663440" y="306324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320040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376672" y="317296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</a:rPr>
              <a:t>Hard Scope Boundaries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376672" y="352044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System will NEVER: recommend new card applications, provide investment advice, offer credit repair, guarantee financial outcomes, or take action without user confirmation. Enforced at system instruction level.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320040" y="4645152"/>
            <a:ext cx="8503920" cy="34747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320040" y="4663440"/>
            <a:ext cx="8503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C9A7"/>
                </a:solidFill>
              </a:rPr>
              <a:t>Safety is not a feature — it's the foundation. Trust is the product.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</a:rPr>
              <a:t>CardIQ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CCDDEE"/>
                </a:solidFill>
              </a:rPr>
              <a:t>Failure Testing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44"/>
                </a:solidFill>
              </a:rPr>
              <a:t>How We Break It Before Users Do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8503920" cy="4114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</a:rPr>
              <a:t>Failure Mode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63240" y="15087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</a:rPr>
              <a:t>Test Method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97880" y="15087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</a:rPr>
              <a:t>System Response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920240"/>
            <a:ext cx="8503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1965960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64748B"/>
                </a:solidFill>
              </a:rPr>
              <a:t>Hallucinated card terms (FM-01)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63240" y="1965960"/>
            <a:ext cx="2788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Monthly red-team: compare output vs. verified DB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897880" y="1965960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3560"/>
                </a:solidFill>
              </a:rPr>
              <a:t>Block delivery; require all terms sourced from verified DB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487168"/>
            <a:ext cx="8503920" cy="530352"/>
          </a:xfrm>
          <a:prstGeom prst="rect">
            <a:avLst/>
          </a:prstGeom>
          <a:solidFill>
            <a:srgbClr val="EEF3FA"/>
          </a:solidFill>
          <a:ln w="6350">
            <a:solidFill>
              <a:srgbClr val="DD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2532888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64748B"/>
                </a:solidFill>
              </a:rPr>
              <a:t>Stale card terms database (FM-02)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063240" y="2532888"/>
            <a:ext cx="2788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Weekly review cycle + automated issuer page change detection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897880" y="2532888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3560"/>
                </a:solidFill>
              </a:rPr>
              <a:t>User-facing 'last verified' dates; out-of-cycle review for material changes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054096"/>
            <a:ext cx="8503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3099816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64748B"/>
                </a:solidFill>
              </a:rPr>
              <a:t>User acts on expired benefit (FM-03)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063240" y="3099816"/>
            <a:ext cx="2788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Calendar-anchored reset dates tested against edge cases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897880" y="3099816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3560"/>
                </a:solidFill>
              </a:rPr>
              <a:t>48-hour warning badges; confidence downgrade near reset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3621024"/>
            <a:ext cx="8503920" cy="530352"/>
          </a:xfrm>
          <a:prstGeom prst="rect">
            <a:avLst/>
          </a:prstGeom>
          <a:solidFill>
            <a:srgbClr val="EEF3FA"/>
          </a:solidFill>
          <a:ln w="6350">
            <a:solidFill>
              <a:srgbClr val="DD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" y="3666744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64748B"/>
                </a:solidFill>
              </a:rPr>
              <a:t>User over-reliance on AI (FM-05)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063240" y="3666744"/>
            <a:ext cx="2788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Disclaimer compliance audit; UX friction testing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897880" y="3666744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3560"/>
                </a:solidFill>
              </a:rPr>
              <a:t>'CardIQ provides information, not financial advice' on every recommendation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4187952"/>
            <a:ext cx="8503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" y="4233672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64748B"/>
                </a:solidFill>
              </a:rPr>
              <a:t>Wrong card selected at onboarding (FM-09)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063240" y="4233672"/>
            <a:ext cx="2788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Simulated misselection scenarios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897880" y="4233672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3560"/>
                </a:solidFill>
              </a:rPr>
              <a:t>Confirmation step showing fee + benefits; Plaid auto-identification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</a:rPr>
              <a:t>CardIQ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CCDDEE"/>
                </a:solidFill>
              </a:rPr>
              <a:t>Human-in-the-Loop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44"/>
                </a:solidFill>
              </a:rPr>
              <a:t>Why Humans Remain in Control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2743200" cy="324612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27432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60020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2240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044"/>
                </a:solidFill>
              </a:rPr>
              <a:t>User Confirmation Required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78892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Every recommendation requires a deliberate tap or click to execute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'Take Action' CTA never auto-applies — user reads explanation first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Portfolio keep/downgrade advice includes: 'Consider calling your issuer for retention offers before acting'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One-tap reasoning reveals full rationale, tradeoffs, and confidence level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00400" y="1463040"/>
            <a:ext cx="2743200" cy="324612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200400" y="1463040"/>
            <a:ext cx="27432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60020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00400" y="2240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044"/>
                </a:solidFill>
              </a:rPr>
              <a:t>Analyst Oversight Layer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337560" y="278892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Monthly hallucination audits against verified card terms DB by Benefits Data Analyst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Quarterly recommendation quality audits across card tiers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User-reported inaccuracies escalated to AI Quality Reviewer within 48 hours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Card terms DB curated and verified by Benefits Data Analyst (weekly review cycle)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080760" y="1463040"/>
            <a:ext cx="2743200" cy="324612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080760" y="1463040"/>
            <a:ext cx="27432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1600200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080760" y="2240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044"/>
                </a:solidFill>
              </a:rPr>
              <a:t>Explainability by Design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217920" y="278892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Every recommendation includes plain-language rationale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Confidence level shown to user (High / Medium / Low)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Tradeoffs explicitly surfaced — no hidden assumptions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User-reported inaccuracies resolved within 48 hours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320040" y="481888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0C9A7"/>
                </a:solidFill>
              </a:rPr>
              <a:t>AI recommends. Humans decide. Always.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</a:rPr>
              <a:t>CardIQ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CCDDEE"/>
                </a:solidFill>
              </a:rPr>
              <a:t>Compliance Safeguards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44"/>
                </a:solidFill>
              </a:rPr>
              <a:t>Compliance Architecture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4114800" cy="306324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4114800" cy="4114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</a:rPr>
              <a:t>Regulatory Framework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993392"/>
            <a:ext cx="658368" cy="43891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993392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044"/>
                </a:solidFill>
              </a:rPr>
              <a:t>ECOA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8720" y="20116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Equal Credit Opportunity Act — quarterly recommendation quality audits ensure no demographic segment receives systematically worse guidance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658368" cy="43891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651760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044"/>
                </a:solidFill>
              </a:rPr>
              <a:t>CARD Act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88720" y="267004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Credit Card Accountability Responsibility and Disclosure Act — All benefit terms presented as-is from verified database. No misleading representations of card features or costs.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310128"/>
            <a:ext cx="658368" cy="43891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310128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044"/>
                </a:solidFill>
              </a:rPr>
              <a:t>TILA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88720" y="3328416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Truth in Lending Act — Rewards rates and fee structures displayed accurately. No inflated projections. Disclaimers on all AI-generated estimates.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968496"/>
            <a:ext cx="658368" cy="43891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968496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044"/>
                </a:solidFill>
              </a:rPr>
              <a:t>Scope Limit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88720" y="3986784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CardIQ does NOT offer investment advice, loan origination, or credit repair services — clear scope boundaries enforced in UX and model prompting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1463040"/>
            <a:ext cx="4114800" cy="306324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09160" y="1463040"/>
            <a:ext cx="4114800" cy="4114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00600" y="15087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</a:rPr>
              <a:t>Data &amp; Privacy Controls</a:t>
            </a:r>
            <a:endParaRPr lang="en-US" sz="130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039112"/>
            <a:ext cx="347472" cy="347472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321808" y="2011680"/>
            <a:ext cx="3401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All financial data encrypted at rest and in transit (AES-256 / TLS 1.3)</a:t>
            </a:r>
            <a:endParaRPr lang="en-US" sz="105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697480"/>
            <a:ext cx="347472" cy="34747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321808" y="2670048"/>
            <a:ext cx="3401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Plaid OAuth only — CardIQ never sees or stores bank credentials</a:t>
            </a:r>
            <a:endParaRPr lang="en-US" sz="105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355848"/>
            <a:ext cx="347472" cy="34747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321808" y="3328416"/>
            <a:ext cx="3401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Information vs. advice distinction enforced: 'CardIQ provides information, not financial advice' on every output</a:t>
            </a:r>
            <a:endParaRPr lang="en-US" sz="105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4014216"/>
            <a:ext cx="347472" cy="34747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321808" y="3986784"/>
            <a:ext cx="3401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Audit logs maintained for all AI recommendations and user actions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EEF3FA"/>
          </a:solidFill>
          <a:ln w="12700">
            <a:solidFill>
              <a:srgbClr val="DD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457200" y="4645152"/>
            <a:ext cx="8321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</a:rPr>
              <a:t>Non-goals enforced at system instruction level (highest priority tier): no investment advice, no new card recommendations, no credit repair, no loan origination.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</a:rPr>
              <a:t>CardIQ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CCDDEE"/>
                </a:solidFill>
              </a:rPr>
              <a:t>Success Metrics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44"/>
                </a:solidFill>
              </a:rPr>
              <a:t>How We Measure Success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2743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2743200" cy="34747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48132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9A7"/>
                </a:solidFill>
              </a:rPr>
              <a:t>Accuracy &amp; Reliability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" y="1911096"/>
            <a:ext cx="54864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1874520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≥99% factual accuracy on card terms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" y="2551176"/>
            <a:ext cx="54864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514600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Benefits capture rate improvement ≥15% within 90 days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" y="3191256"/>
            <a:ext cx="54864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154680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Zero critical hallucinations in monthly red-team audits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" y="3831336"/>
            <a:ext cx="54864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794760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100% of recommendations include confidence level + rationale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0" y="1463040"/>
            <a:ext cx="2743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0" y="1463040"/>
            <a:ext cx="2743200" cy="34747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0" y="148132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</a:rPr>
              <a:t>User Engagement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64992" y="1911096"/>
            <a:ext cx="54864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520440" y="1874520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≥40% acceptance rate on high-confidence recs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64992" y="2551176"/>
            <a:ext cx="54864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520440" y="2514600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&lt;5 minutes time-to-first-value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64992" y="3191256"/>
            <a:ext cx="54864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520440" y="3154680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Explanation clarity score ≥4.0 / 5.0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64992" y="3831336"/>
            <a:ext cx="54864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520440" y="3794760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Benefits capture rate tracked per card and across portfolio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80760" y="1463040"/>
            <a:ext cx="2743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080760" y="1463040"/>
            <a:ext cx="2743200" cy="34747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080760" y="148132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</a:rPr>
              <a:t>Trust &amp; Safety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45352" y="1911096"/>
            <a:ext cx="54864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00800" y="1874520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100% scope compliance (no investment advice, no new card recs)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45352" y="2551176"/>
            <a:ext cx="54864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400800" y="2514600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Quarterly recommendation quality audit across card tiers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45352" y="3191256"/>
            <a:ext cx="54864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00800" y="3154680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User-reported accuracy issues resolved within 48h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45352" y="3831336"/>
            <a:ext cx="54864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00800" y="3794760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100% recommendations include confidence level + rationale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20040" y="4636008"/>
            <a:ext cx="8503920" cy="38404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Phases: Alpha (3 demo users) → Closed Beta (50) → Open Beta → GA Launch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114800" cy="4114800"/>
          </a:xfrm>
          <a:prstGeom prst="ellipse">
            <a:avLst/>
          </a:prstGeom>
          <a:solidFill>
            <a:srgbClr val="1A3560">
              <a:alpha val="50000"/>
            </a:srgbClr>
          </a:solidFill>
          <a:ln w="12700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097280" y="2743200"/>
            <a:ext cx="3200400" cy="3200400"/>
          </a:xfrm>
          <a:prstGeom prst="ellipse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The Ask Is Simple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00C9A7"/>
                </a:solidFill>
              </a:rPr>
              <a:t>Help 100M credit-card-holding Americans stop leaving hundreds in unused benefits on the table every year.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✓   Holistic LLM reasoning — not rules, not referrals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28072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0C8E8"/>
                </a:solidFill>
              </a:rPr>
              <a:t>✓   Safety-first: ≥99% accuracy, monthly audits, verified card terms DB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319125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0C8E8"/>
                </a:solidFill>
              </a:rPr>
              <a:t>✓   Human-in-the-loop at every decision point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357530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0C8E8"/>
                </a:solidFill>
              </a:rPr>
              <a:t>✓   CARD Act / TILA / Plaid privacy aligned with quarterly review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39593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0C8E8"/>
                </a:solidFill>
              </a:rPr>
              <a:t>✓   Working prototype, deployed on AWS Amplify, live data via Plaid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00C9A7"/>
                </a:solidFill>
              </a:rPr>
              <a:t>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1036</Words>
  <Application>Microsoft Macintosh PowerPoint</Application>
  <PresentationFormat>On-screen Show (16:9)</PresentationFormat>
  <Paragraphs>191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CardIQ — Shark Tank Pitch</dc:title>
  <dc:subject>PptxGenJS Presentation</dc:subject>
  <dc:creator>PptxGenJS</dc:creator>
  <cp:lastModifiedBy>Garancsi, Annamaria</cp:lastModifiedBy>
  <cp:revision>1</cp:revision>
  <dcterms:created xsi:type="dcterms:W3CDTF">2026-03-10T01:36:45Z</dcterms:created>
  <dcterms:modified xsi:type="dcterms:W3CDTF">2026-03-10T01:46:17Z</dcterms:modified>
</cp:coreProperties>
</file>